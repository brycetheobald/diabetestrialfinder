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72"/>
    <p:restoredTop sz="94633"/>
  </p:normalViewPr>
  <p:slideViewPr>
    <p:cSldViewPr snapToGrid="0" snapToObjects="1">
      <p:cViewPr varScale="1">
        <p:scale>
          <a:sx n="56" d="100"/>
          <a:sy n="56" d="100"/>
        </p:scale>
        <p:origin x="184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682" y="2187045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 dirty="0" err="1">
                <a:solidFill>
                  <a:srgbClr val="1E3A5F"/>
                </a:solidFill>
              </a:rPr>
              <a:t>DiabetesTrialFinder</a:t>
            </a:r>
            <a:endParaRPr sz="6400" b="1" i="0" dirty="0">
              <a:solidFill>
                <a:srgbClr val="1E3A5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8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4748B"/>
                </a:solidFill>
              </a:rPr>
              <a:t>Bryce Theobald  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39496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Type 2 Diabetes is a major issue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38 million Americans have diabetes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90% of cases are Type 2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Costs the US $412 billion per year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New treatments are constantly being
tested in clinical trials</a:t>
            </a: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endParaRPr lang="en-US"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1E3A5F"/>
                </a:solidFill>
              </a:rPr>
              <a:t>https://</a:t>
            </a:r>
            <a:r>
              <a:rPr lang="en-US" sz="1600" dirty="0" err="1">
                <a:solidFill>
                  <a:srgbClr val="1E3A5F"/>
                </a:solidFill>
              </a:rPr>
              <a:t>www.cdc.gov</a:t>
            </a:r>
            <a:r>
              <a:rPr lang="en-US" sz="1600" dirty="0">
                <a:solidFill>
                  <a:srgbClr val="1E3A5F"/>
                </a:solidFill>
              </a:rPr>
              <a:t>/diabetes/images/library/</a:t>
            </a:r>
            <a:r>
              <a:rPr lang="en-US" sz="1600" dirty="0" err="1">
                <a:solidFill>
                  <a:srgbClr val="1E3A5F"/>
                </a:solidFill>
              </a:rPr>
              <a:t>socialmedia</a:t>
            </a:r>
            <a:r>
              <a:rPr lang="en-US" sz="1600" dirty="0">
                <a:solidFill>
                  <a:srgbClr val="1E3A5F"/>
                </a:solidFill>
              </a:rPr>
              <a:t>/</a:t>
            </a:r>
            <a:r>
              <a:rPr lang="en-US" sz="1600" dirty="0" err="1">
                <a:solidFill>
                  <a:srgbClr val="1E3A5F"/>
                </a:solidFill>
              </a:rPr>
              <a:t>diabetesintheus_print.pdf</a:t>
            </a:r>
            <a:endParaRPr sz="1600" dirty="0">
              <a:solidFill>
                <a:srgbClr val="1E3A5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39496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The data is hard to navigate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ClinicalTrials.gov has 500,000+ studies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The search tool is built for researchers,
not everyday users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No simple way to filter just T2D
trials in the US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Hard to spot trends across many
trials at 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</a:rPr>
              <a:t>A website to search, filter, and explore Type 2 Diabetes clinical trials —
pulled automatically from ClinicalTrials.gov.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265176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Search &amp;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29000"/>
            <a:ext cx="23774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E3A5F"/>
                </a:solidFill>
              </a:rPr>
              <a:t>Find trials by keyword, status,</a:t>
            </a:r>
            <a:r>
              <a:rPr lang="en-US" sz="1500" b="0" i="0" dirty="0">
                <a:solidFill>
                  <a:srgbClr val="1E3A5F"/>
                </a:solidFill>
              </a:rPr>
              <a:t> </a:t>
            </a:r>
            <a:r>
              <a:rPr sz="1500" b="0" i="0" dirty="0">
                <a:solidFill>
                  <a:srgbClr val="1E3A5F"/>
                </a:solidFill>
              </a:rPr>
              <a:t>phase, state, or enrollment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697480"/>
            <a:ext cx="265176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Trial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429000"/>
            <a:ext cx="23774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E3A5F"/>
                </a:solidFill>
              </a:rPr>
              <a:t>View full info on any trial</a:t>
            </a:r>
            <a:r>
              <a:rPr lang="en-US" sz="1500" b="0" i="0" dirty="0">
                <a:solidFill>
                  <a:srgbClr val="1E3A5F"/>
                </a:solidFill>
              </a:rPr>
              <a:t>, including</a:t>
            </a:r>
            <a:r>
              <a:rPr lang="en-US" sz="1500" dirty="0">
                <a:solidFill>
                  <a:srgbClr val="1E3A5F"/>
                </a:solidFill>
              </a:rPr>
              <a:t> </a:t>
            </a:r>
            <a:r>
              <a:rPr sz="1500" b="0" i="0" dirty="0">
                <a:solidFill>
                  <a:srgbClr val="1E3A5F"/>
                </a:solidFill>
              </a:rPr>
              <a:t>who can join</a:t>
            </a:r>
            <a:r>
              <a:rPr lang="en-US" sz="1500" dirty="0">
                <a:solidFill>
                  <a:srgbClr val="1E3A5F"/>
                </a:solidFill>
              </a:rPr>
              <a:t> and </a:t>
            </a:r>
            <a:r>
              <a:rPr sz="1500" b="0" i="0" dirty="0">
                <a:solidFill>
                  <a:srgbClr val="1E3A5F"/>
                </a:solidFill>
              </a:rPr>
              <a:t>what's being 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97480"/>
            <a:ext cx="265176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E3A5F"/>
                </a:solidFill>
              </a:rPr>
              <a:t>See charts showing trends
across all 1,000 trials at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697480"/>
            <a:ext cx="2651760" cy="374903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Map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29000"/>
            <a:ext cx="23774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E3A5F"/>
                </a:solidFill>
              </a:rPr>
              <a:t>See which US states have the</a:t>
            </a:r>
            <a:r>
              <a:rPr lang="en-US" sz="1500" b="0" i="0" dirty="0">
                <a:solidFill>
                  <a:srgbClr val="1E3A5F"/>
                </a:solidFill>
              </a:rPr>
              <a:t> </a:t>
            </a:r>
            <a:r>
              <a:rPr sz="1500" b="0" i="0" dirty="0">
                <a:solidFill>
                  <a:srgbClr val="1E3A5F"/>
                </a:solidFill>
              </a:rPr>
              <a:t>most active trials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</a:rPr>
              <a:t>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3A5F"/>
                </a:solidFill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Trials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17373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15768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3A5F"/>
                </a:solidFill>
              </a:rPr>
              <a:t>377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Sponsors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4336" y="17373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74336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3A5F"/>
                </a:solidFill>
              </a:rPr>
              <a:t>1,380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Interventions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904" y="17373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2904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3A5F"/>
                </a:solidFill>
              </a:rPr>
              <a:t>441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2560320"/>
            <a:ext cx="2011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64748B"/>
                </a:solidFill>
              </a:rPr>
              <a:t>Diabetes </a:t>
            </a:r>
            <a:r>
              <a:rPr sz="1300" b="0" i="0" dirty="0">
                <a:solidFill>
                  <a:srgbClr val="64748B"/>
                </a:solidFill>
              </a:rPr>
              <a:t>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91472" y="1737360"/>
            <a:ext cx="20116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3A5F"/>
                </a:solidFill>
              </a:rPr>
              <a:t>6,857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Sites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E3A5F"/>
                </a:solidFill>
              </a:rPr>
              <a:t>For each trial, </a:t>
            </a:r>
            <a:r>
              <a:rPr lang="en-US" sz="1600" b="1" dirty="0">
                <a:solidFill>
                  <a:srgbClr val="1E3A5F"/>
                </a:solidFill>
              </a:rPr>
              <a:t>I</a:t>
            </a:r>
            <a:r>
              <a:rPr sz="1600" b="1" i="0" dirty="0">
                <a:solidFill>
                  <a:srgbClr val="1E3A5F"/>
                </a:solidFill>
              </a:rPr>
              <a:t> store</a:t>
            </a:r>
            <a:r>
              <a:rPr lang="en-US" sz="1600" b="1" i="0" dirty="0">
                <a:solidFill>
                  <a:srgbClr val="1E3A5F"/>
                </a:solidFill>
              </a:rPr>
              <a:t>d</a:t>
            </a:r>
            <a:r>
              <a:rPr sz="1600" b="1" i="0" dirty="0">
                <a:solidFill>
                  <a:srgbClr val="1E3A5F"/>
                </a:solidFill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1097280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Basic info — title, status</a:t>
            </a:r>
            <a:r>
              <a:rPr lang="en-US" sz="1600" dirty="0">
                <a:solidFill>
                  <a:srgbClr val="1E3A5F"/>
                </a:solidFill>
              </a:rPr>
              <a:t>(recruiting, completed, terminated, etc.)</a:t>
            </a:r>
            <a:r>
              <a:rPr sz="1600" dirty="0">
                <a:solidFill>
                  <a:srgbClr val="1E3A5F"/>
                </a:solidFill>
              </a:rPr>
              <a:t>, phase</a:t>
            </a:r>
            <a:r>
              <a:rPr lang="en-US" sz="1600" dirty="0">
                <a:solidFill>
                  <a:srgbClr val="1E3A5F"/>
                </a:solidFill>
              </a:rPr>
              <a:t>(1-first testing in humans, 4-approved,etc.)</a:t>
            </a:r>
            <a:r>
              <a:rPr sz="1600" dirty="0">
                <a:solidFill>
                  <a:srgbClr val="1E3A5F"/>
                </a:solidFill>
              </a:rPr>
              <a:t>, study type</a:t>
            </a:r>
            <a:r>
              <a:rPr lang="en-US" sz="1600" dirty="0">
                <a:solidFill>
                  <a:srgbClr val="1E3A5F"/>
                </a:solidFill>
              </a:rPr>
              <a:t>(Interventional, observational)</a:t>
            </a:r>
            <a:endParaRPr sz="1600" dirty="0">
              <a:solidFill>
                <a:srgbClr val="1E3A5F"/>
              </a:solidFill>
            </a:endParaRP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Dates — when it started and when it ends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Who's running it — the lead sponsor (company, university, or government agency)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What's being tested — drugs, devices, lifestyle changes, etc.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Who can join — age range, sex, and eligibility criteria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Where it's happening — facility, city, and state (US only)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</a:rPr>
              <a:t>How It's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Collect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3A5F"/>
                </a:solidFill>
              </a:rPr>
              <a:t>A Python script downloads
1,000 trials from the
ClinicalTrials.gov website
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810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67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88036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999232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3A5F"/>
                </a:solidFill>
              </a:rPr>
              <a:t>The data is organized and
saved into a database
with 8 connected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810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67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Display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88036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999232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3A5F"/>
                </a:solidFill>
              </a:rPr>
              <a:t>A PHP website reads
the database and shows
results with search
and filter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810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267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</a:rPr>
              <a:t>Visualize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288036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2999232"/>
            <a:ext cx="23774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E3A5F"/>
                </a:solidFill>
              </a:rPr>
              <a:t> Tableau</a:t>
            </a:r>
            <a:r>
              <a:rPr lang="en-US" sz="1500" b="0" i="0" dirty="0">
                <a:solidFill>
                  <a:srgbClr val="1E3A5F"/>
                </a:solidFill>
              </a:rPr>
              <a:t> </a:t>
            </a:r>
            <a:r>
              <a:rPr sz="1500" b="0" i="0" dirty="0">
                <a:solidFill>
                  <a:srgbClr val="1E3A5F"/>
                </a:solidFill>
              </a:rPr>
              <a:t>turn</a:t>
            </a:r>
            <a:r>
              <a:rPr lang="en-US" sz="1500" b="0" i="0" dirty="0">
                <a:solidFill>
                  <a:srgbClr val="1E3A5F"/>
                </a:solidFill>
              </a:rPr>
              <a:t>s</a:t>
            </a:r>
            <a:r>
              <a:rPr sz="1500" b="0" i="0" dirty="0">
                <a:solidFill>
                  <a:srgbClr val="1E3A5F"/>
                </a:solidFill>
              </a:rPr>
              <a:t> the data into
interactive charts
and maps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E3A5F"/>
                </a:solidFill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566160"/>
            <a:ext cx="85313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64748B"/>
                </a:solidFill>
              </a:rPr>
              <a:t>localhost:8888/</a:t>
            </a:r>
            <a:r>
              <a:rPr sz="2000" b="0" i="0" dirty="0" err="1">
                <a:solidFill>
                  <a:srgbClr val="64748B"/>
                </a:solidFill>
              </a:rPr>
              <a:t>DiabetesTrialFinder</a:t>
            </a:r>
            <a:endParaRPr sz="2000" b="0" i="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E3A5F"/>
                </a:solidFill>
              </a:rPr>
              <a:t>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Server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3172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</a:rPr>
              <a:t>The school server had no
database ready for my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How I fixed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00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</a:rPr>
              <a:t>Switched to running everything
on my own laptop with MAMP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Messy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33172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88920"/>
            <a:ext cx="2377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3A5F"/>
                </a:solidFill>
              </a:rPr>
              <a:t>The same drug</a:t>
            </a:r>
            <a:r>
              <a:rPr lang="en-US" sz="1400" b="0" i="0" dirty="0">
                <a:solidFill>
                  <a:srgbClr val="1E3A5F"/>
                </a:solidFill>
              </a:rPr>
              <a:t>s</a:t>
            </a:r>
            <a:r>
              <a:rPr sz="1400" b="0" i="0" dirty="0">
                <a:solidFill>
                  <a:srgbClr val="1E3A5F"/>
                </a:solidFill>
              </a:rPr>
              <a:t> appeared twice</a:t>
            </a:r>
            <a:r>
              <a:rPr lang="en-US" sz="1400" b="0" i="0" dirty="0">
                <a:solidFill>
                  <a:srgbClr val="1E3A5F"/>
                </a:solidFill>
              </a:rPr>
              <a:t> </a:t>
            </a:r>
            <a:r>
              <a:rPr sz="1400" b="0" i="0" dirty="0">
                <a:solidFill>
                  <a:srgbClr val="1E3A5F"/>
                </a:solidFill>
              </a:rPr>
              <a:t>due to extra spaces in its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How I fixed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80060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3A5F"/>
                </a:solidFill>
              </a:rPr>
              <a:t>Added a cleaning step to strip
extra spaces before saving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Missing Drivers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33172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88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</a:rPr>
              <a:t>Tableau couldn't connect to
MySQL without extra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How I fixed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00600"/>
            <a:ext cx="2377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3A5F"/>
                </a:solidFill>
              </a:rPr>
              <a:t>Installed two additional tools
</a:t>
            </a:r>
            <a:r>
              <a:rPr lang="en-US" sz="1400" b="0" i="0" dirty="0">
                <a:solidFill>
                  <a:srgbClr val="1E3A5F"/>
                </a:solidFill>
              </a:rPr>
              <a:t>from the Tableau website </a:t>
            </a:r>
            <a:r>
              <a:rPr sz="1400" b="0" i="0" dirty="0">
                <a:solidFill>
                  <a:srgbClr val="1E3A5F"/>
                </a:solidFill>
              </a:rPr>
              <a:t>in the correct order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691640"/>
            <a:ext cx="26517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Reserved Words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2331720"/>
            <a:ext cx="237744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7260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788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</a:rPr>
              <a:t>MySQL rejected some of my
field names like 'conditions'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How I fixed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800600"/>
            <a:ext cx="2377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3A5F"/>
                </a:solidFill>
              </a:rPr>
              <a:t>Wrapped those names in
backticks</a:t>
            </a:r>
            <a:r>
              <a:rPr lang="en-US" sz="1400" b="0" i="0" dirty="0">
                <a:solidFill>
                  <a:srgbClr val="1E3A5F"/>
                </a:solidFill>
              </a:rPr>
              <a:t>(so they’re not commands in MySQL)</a:t>
            </a:r>
            <a:r>
              <a:rPr sz="1400" b="0" i="0" dirty="0">
                <a:solidFill>
                  <a:srgbClr val="1E3A5F"/>
                </a:solidFill>
              </a:rPr>
              <a:t> in every SQL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1E3A5F"/>
                </a:solidFill>
              </a:rPr>
              <a:t>Conclusions</a:t>
            </a:r>
            <a:r>
              <a:rPr lang="en-US" sz="3600" b="1" i="0" dirty="0">
                <a:solidFill>
                  <a:srgbClr val="1E3A5F"/>
                </a:solidFill>
              </a:rPr>
              <a:t>/Questions?</a:t>
            </a:r>
            <a:endParaRPr sz="3600" b="1" i="0" dirty="0">
              <a:solidFill>
                <a:srgbClr val="1E3A5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949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What I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A database of 1,000 clinical trials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A website to search and explore them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Charts and a map to spot trends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3A5F"/>
                </a:solidFill>
              </a:rPr>
              <a:t>  •  All code is public on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If I had more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206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64748B"/>
                </a:solidFill>
              </a:rPr>
              <a:t>  •  Let patients check if they qualify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64748B"/>
                </a:solidFill>
              </a:rPr>
              <a:t>  •  Update the data automatically each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3949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With a team and 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9377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Build a mobile app for patients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Partner with hospitals to connect
doctors to relevant trials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match patients to trials
based on their health records</a:t>
            </a:r>
          </a:p>
          <a:p>
            <a:pPr>
              <a:spcBef>
                <a:spcPts val="600"/>
              </a:spcBef>
            </a:pPr>
            <a:r>
              <a:rPr sz="1600" dirty="0">
                <a:solidFill>
                  <a:srgbClr val="1E3A5F"/>
                </a:solidFill>
              </a:rPr>
              <a:t>  •  Make it freely available to anyone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657</Words>
  <Application>Microsoft Macintosh PowerPoint</Application>
  <PresentationFormat>Custom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Bryce Theobald</cp:lastModifiedBy>
  <cp:revision>2</cp:revision>
  <dcterms:created xsi:type="dcterms:W3CDTF">2013-01-27T09:14:16Z</dcterms:created>
  <dcterms:modified xsi:type="dcterms:W3CDTF">2026-04-26T21:51:36Z</dcterms:modified>
  <cp:category/>
</cp:coreProperties>
</file>